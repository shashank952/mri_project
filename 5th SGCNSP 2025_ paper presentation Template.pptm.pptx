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Play"/>
      <p:regular r:id="rId22"/>
      <p:bold r:id="rId23"/>
    </p:embeddedFont>
    <p:embeddedFont>
      <p:font typeface="Caveat"/>
      <p:regular r:id="rId24"/>
      <p:bold r:id="rId25"/>
    </p:embeddedFont>
    <p:embeddedFont>
      <p:font typeface="Cabin"/>
      <p:regular r:id="rId26"/>
      <p:bold r:id="rId27"/>
      <p:italic r:id="rId28"/>
      <p:boldItalic r:id="rId29"/>
    </p:embeddedFont>
    <p:embeddedFont>
      <p:font typeface="Cambay"/>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6E15896-FB06-4D1E-A19B-BF0D32EF536D}">
  <a:tblStyle styleId="{16E15896-FB06-4D1E-A19B-BF0D32EF536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y-regular.fntdata"/><Relationship Id="rId21" Type="http://schemas.openxmlformats.org/officeDocument/2006/relationships/slide" Target="slides/slide16.xml"/><Relationship Id="rId24" Type="http://schemas.openxmlformats.org/officeDocument/2006/relationships/font" Target="fonts/Caveat-regular.fntdata"/><Relationship Id="rId23" Type="http://schemas.openxmlformats.org/officeDocument/2006/relationships/font" Target="fonts/Play-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bin-regular.fntdata"/><Relationship Id="rId25" Type="http://schemas.openxmlformats.org/officeDocument/2006/relationships/font" Target="fonts/Caveat-bold.fntdata"/><Relationship Id="rId28" Type="http://schemas.openxmlformats.org/officeDocument/2006/relationships/font" Target="fonts/Cabin-italic.fntdata"/><Relationship Id="rId27" Type="http://schemas.openxmlformats.org/officeDocument/2006/relationships/font" Target="fonts/Cabin-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abin-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ambay-bold.fntdata"/><Relationship Id="rId30" Type="http://schemas.openxmlformats.org/officeDocument/2006/relationships/font" Target="fonts/Cambay-regular.fntdata"/><Relationship Id="rId11" Type="http://schemas.openxmlformats.org/officeDocument/2006/relationships/slide" Target="slides/slide6.xml"/><Relationship Id="rId33" Type="http://schemas.openxmlformats.org/officeDocument/2006/relationships/font" Target="fonts/Cambay-boldItalic.fntdata"/><Relationship Id="rId10" Type="http://schemas.openxmlformats.org/officeDocument/2006/relationships/slide" Target="slides/slide5.xml"/><Relationship Id="rId32" Type="http://schemas.openxmlformats.org/officeDocument/2006/relationships/font" Target="fonts/Cambay-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b203457e5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b203457e5d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203457e5d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b203457e5d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b203457e5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b203457e5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11" name="Shape 11"/>
        <p:cNvGrpSpPr/>
        <p:nvPr/>
      </p:nvGrpSpPr>
      <p:grpSpPr>
        <a:xfrm>
          <a:off x="0" y="0"/>
          <a:ext cx="0" cy="0"/>
          <a:chOff x="0" y="0"/>
          <a:chExt cx="0" cy="0"/>
        </a:xfrm>
      </p:grpSpPr>
      <p:sp>
        <p:nvSpPr>
          <p:cNvPr id="12" name="Google Shape;12;p2"/>
          <p:cNvSpPr/>
          <p:nvPr/>
        </p:nvSpPr>
        <p:spPr>
          <a:xfrm>
            <a:off x="294640" y="1082435"/>
            <a:ext cx="11897359" cy="1077218"/>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F4861"/>
              </a:buClr>
              <a:buSzPts val="3200"/>
              <a:buFont typeface="Cabin"/>
              <a:buNone/>
            </a:pPr>
            <a:r>
              <a:rPr b="1" i="0" lang="en-IN" sz="3200" u="none" cap="none" strike="noStrike">
                <a:solidFill>
                  <a:srgbClr val="0F4861"/>
                </a:solidFill>
                <a:latin typeface="Cabin"/>
                <a:ea typeface="Cabin"/>
                <a:cs typeface="Cabin"/>
                <a:sym typeface="Cabin"/>
              </a:rPr>
              <a:t>5</a:t>
            </a:r>
            <a:r>
              <a:rPr b="1" baseline="30000" i="0" lang="en-IN" sz="3200" u="none" cap="none" strike="noStrike">
                <a:solidFill>
                  <a:srgbClr val="0F4861"/>
                </a:solidFill>
                <a:latin typeface="Cabin"/>
                <a:ea typeface="Cabin"/>
                <a:cs typeface="Cabin"/>
                <a:sym typeface="Cabin"/>
              </a:rPr>
              <a:t>TH</a:t>
            </a:r>
            <a:r>
              <a:rPr b="1" i="0" lang="en-IN" sz="3200" u="none" cap="none" strike="noStrike">
                <a:solidFill>
                  <a:srgbClr val="0F4861"/>
                </a:solidFill>
                <a:latin typeface="Cabin"/>
                <a:ea typeface="Cabin"/>
                <a:cs typeface="Cabin"/>
                <a:sym typeface="Cabin"/>
              </a:rPr>
              <a:t> INTERNATIONAL CONFERENCE ON </a:t>
            </a:r>
            <a:endParaRPr/>
          </a:p>
          <a:p>
            <a:pPr indent="0" lvl="0" marL="0" marR="0" rtl="0" algn="ctr">
              <a:lnSpc>
                <a:spcPct val="100000"/>
              </a:lnSpc>
              <a:spcBef>
                <a:spcPts val="0"/>
              </a:spcBef>
              <a:spcAft>
                <a:spcPts val="0"/>
              </a:spcAft>
              <a:buClr>
                <a:srgbClr val="0F4861"/>
              </a:buClr>
              <a:buSzPts val="3200"/>
              <a:buFont typeface="Cabin"/>
              <a:buNone/>
            </a:pPr>
            <a:r>
              <a:rPr b="1" i="0" lang="en-IN" sz="3200" u="none" cap="none" strike="noStrike">
                <a:solidFill>
                  <a:srgbClr val="0F4861"/>
                </a:solidFill>
                <a:latin typeface="Cabin"/>
                <a:ea typeface="Cabin"/>
                <a:cs typeface="Cabin"/>
                <a:sym typeface="Cabin"/>
              </a:rPr>
              <a:t>6G COMMUNICATIONS NETWORKING AND SIGNAL PROCESSING</a:t>
            </a:r>
            <a:endParaRPr b="0" i="0" sz="3200" u="none" cap="none" strike="noStrike">
              <a:solidFill>
                <a:srgbClr val="0F4861"/>
              </a:solidFill>
              <a:latin typeface="Arial"/>
              <a:ea typeface="Arial"/>
              <a:cs typeface="Arial"/>
              <a:sym typeface="Arial"/>
            </a:endParaRPr>
          </a:p>
        </p:txBody>
      </p:sp>
      <p:pic>
        <p:nvPicPr>
          <p:cNvPr descr="A blue globe with white text&#10;&#10;Description automatically generated" id="13" name="Google Shape;13;p2"/>
          <p:cNvPicPr preferRelativeResize="0"/>
          <p:nvPr/>
        </p:nvPicPr>
        <p:blipFill rotWithShape="1">
          <a:blip r:embed="rId2">
            <a:alphaModFix/>
          </a:blip>
          <a:srcRect b="0" l="0" r="0" t="0"/>
          <a:stretch/>
        </p:blipFill>
        <p:spPr>
          <a:xfrm>
            <a:off x="386422" y="32859"/>
            <a:ext cx="872940" cy="1122467"/>
          </a:xfrm>
          <a:prstGeom prst="rect">
            <a:avLst/>
          </a:prstGeom>
          <a:noFill/>
          <a:ln>
            <a:noFill/>
          </a:ln>
        </p:spPr>
      </p:pic>
      <p:sp>
        <p:nvSpPr>
          <p:cNvPr id="14" name="Google Shape;14;p2"/>
          <p:cNvSpPr/>
          <p:nvPr/>
        </p:nvSpPr>
        <p:spPr>
          <a:xfrm>
            <a:off x="0" y="528320"/>
            <a:ext cx="294640" cy="6004560"/>
          </a:xfrm>
          <a:prstGeom prst="rect">
            <a:avLst/>
          </a:prstGeom>
          <a:solidFill>
            <a:srgbClr val="175C8F"/>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 name="Google Shape;15;p2"/>
          <p:cNvSpPr/>
          <p:nvPr/>
        </p:nvSpPr>
        <p:spPr>
          <a:xfrm>
            <a:off x="147027" y="791870"/>
            <a:ext cx="147613" cy="5598160"/>
          </a:xfrm>
          <a:prstGeom prst="rect">
            <a:avLst/>
          </a:prstGeom>
          <a:solidFill>
            <a:srgbClr val="82CAEB"/>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2A186E"/>
              </a:solidFill>
              <a:latin typeface="Arial"/>
              <a:ea typeface="Arial"/>
              <a:cs typeface="Arial"/>
              <a:sym typeface="Arial"/>
            </a:endParaRPr>
          </a:p>
        </p:txBody>
      </p:sp>
      <p:sp>
        <p:nvSpPr>
          <p:cNvPr id="16" name="Google Shape;16;p2"/>
          <p:cNvSpPr/>
          <p:nvPr/>
        </p:nvSpPr>
        <p:spPr>
          <a:xfrm>
            <a:off x="9199418" y="6466172"/>
            <a:ext cx="2992582" cy="166254"/>
          </a:xfrm>
          <a:prstGeom prst="rect">
            <a:avLst/>
          </a:prstGeom>
          <a:solidFill>
            <a:srgbClr val="175C8F"/>
          </a:solidFill>
          <a:ln cap="flat" cmpd="sng" w="19050">
            <a:solidFill>
              <a:srgbClr val="2A186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70C0"/>
              </a:solidFill>
              <a:latin typeface="Arial"/>
              <a:ea typeface="Arial"/>
              <a:cs typeface="Arial"/>
              <a:sym typeface="Arial"/>
            </a:endParaRPr>
          </a:p>
        </p:txBody>
      </p:sp>
      <p:sp>
        <p:nvSpPr>
          <p:cNvPr id="17" name="Google Shape;17;p2"/>
          <p:cNvSpPr/>
          <p:nvPr/>
        </p:nvSpPr>
        <p:spPr>
          <a:xfrm>
            <a:off x="8808720" y="6466172"/>
            <a:ext cx="203200" cy="208263"/>
          </a:xfrm>
          <a:prstGeom prst="ellipse">
            <a:avLst/>
          </a:prstGeom>
          <a:solidFill>
            <a:srgbClr val="82CA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 name="Google Shape;18;p2"/>
          <p:cNvSpPr txBox="1"/>
          <p:nvPr/>
        </p:nvSpPr>
        <p:spPr>
          <a:xfrm>
            <a:off x="4771835" y="3034187"/>
            <a:ext cx="256727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2000" u="none" cap="none" strike="noStrike">
                <a:solidFill>
                  <a:srgbClr val="13325B"/>
                </a:solidFill>
                <a:latin typeface="Cambay"/>
                <a:ea typeface="Cambay"/>
                <a:cs typeface="Cambay"/>
                <a:sym typeface="Cambay"/>
              </a:rPr>
              <a:t>Publication Partner</a:t>
            </a:r>
            <a:endParaRPr b="0" i="0" sz="2000" u="none" cap="none" strike="noStrike">
              <a:solidFill>
                <a:schemeClr val="dk1"/>
              </a:solidFill>
              <a:latin typeface="Arial"/>
              <a:ea typeface="Arial"/>
              <a:cs typeface="Arial"/>
              <a:sym typeface="Arial"/>
            </a:endParaRPr>
          </a:p>
        </p:txBody>
      </p:sp>
      <p:pic>
        <p:nvPicPr>
          <p:cNvPr descr="A blue text on a white background&#10;&#10;Description automatically generated" id="19" name="Google Shape;19;p2"/>
          <p:cNvPicPr preferRelativeResize="0"/>
          <p:nvPr/>
        </p:nvPicPr>
        <p:blipFill rotWithShape="1">
          <a:blip r:embed="rId3">
            <a:alphaModFix/>
          </a:blip>
          <a:srcRect b="0" l="0" r="0" t="0"/>
          <a:stretch/>
        </p:blipFill>
        <p:spPr>
          <a:xfrm>
            <a:off x="4652963" y="3552597"/>
            <a:ext cx="2886071" cy="793669"/>
          </a:xfrm>
          <a:prstGeom prst="rect">
            <a:avLst/>
          </a:prstGeom>
          <a:noFill/>
          <a:ln>
            <a:noFill/>
          </a:ln>
        </p:spPr>
      </p:pic>
      <p:sp>
        <p:nvSpPr>
          <p:cNvPr id="20" name="Google Shape;20;p2"/>
          <p:cNvSpPr txBox="1"/>
          <p:nvPr/>
        </p:nvSpPr>
        <p:spPr>
          <a:xfrm>
            <a:off x="4376708" y="2273754"/>
            <a:ext cx="343858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N" sz="3600" u="none" cap="none" strike="noStrike">
                <a:solidFill>
                  <a:srgbClr val="FF0000"/>
                </a:solidFill>
                <a:latin typeface="Cabin"/>
                <a:ea typeface="Cabin"/>
                <a:cs typeface="Cabin"/>
                <a:sym typeface="Cabin"/>
              </a:rPr>
              <a:t>SGCNSP-2025</a:t>
            </a:r>
            <a:endParaRPr b="0" i="0" sz="3600" u="none" cap="none" strike="noStrike">
              <a:solidFill>
                <a:srgbClr val="FF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25" name="Google Shape;25;p3"/>
          <p:cNvSpPr/>
          <p:nvPr/>
        </p:nvSpPr>
        <p:spPr>
          <a:xfrm>
            <a:off x="0" y="528320"/>
            <a:ext cx="294640" cy="6004560"/>
          </a:xfrm>
          <a:prstGeom prst="rect">
            <a:avLst/>
          </a:prstGeom>
          <a:solidFill>
            <a:srgbClr val="175C8F"/>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3"/>
          <p:cNvSpPr/>
          <p:nvPr/>
        </p:nvSpPr>
        <p:spPr>
          <a:xfrm>
            <a:off x="203200" y="791870"/>
            <a:ext cx="91440" cy="5598160"/>
          </a:xfrm>
          <a:prstGeom prst="rect">
            <a:avLst/>
          </a:prstGeom>
          <a:solidFill>
            <a:srgbClr val="82CAEB"/>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2A186E"/>
              </a:solidFill>
              <a:latin typeface="Arial"/>
              <a:ea typeface="Arial"/>
              <a:cs typeface="Arial"/>
              <a:sym typeface="Arial"/>
            </a:endParaRPr>
          </a:p>
        </p:txBody>
      </p:sp>
      <p:pic>
        <p:nvPicPr>
          <p:cNvPr descr="A blue globe with white text&#10;&#10;Description automatically generated" id="27" name="Google Shape;27;p3"/>
          <p:cNvPicPr preferRelativeResize="0"/>
          <p:nvPr/>
        </p:nvPicPr>
        <p:blipFill rotWithShape="1">
          <a:blip r:embed="rId2">
            <a:alphaModFix/>
          </a:blip>
          <a:srcRect b="0" l="0" r="0" t="0"/>
          <a:stretch/>
        </p:blipFill>
        <p:spPr>
          <a:xfrm>
            <a:off x="8784045" y="2113808"/>
            <a:ext cx="1780626" cy="232756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28" name="Shape 28"/>
        <p:cNvGrpSpPr/>
        <p:nvPr/>
      </p:nvGrpSpPr>
      <p:grpSpPr>
        <a:xfrm>
          <a:off x="0" y="0"/>
          <a:ext cx="0" cy="0"/>
          <a:chOff x="0" y="0"/>
          <a:chExt cx="0" cy="0"/>
        </a:xfrm>
      </p:grpSpPr>
      <p:sp>
        <p:nvSpPr>
          <p:cNvPr id="29" name="Google Shape;29;p4"/>
          <p:cNvSpPr/>
          <p:nvPr/>
        </p:nvSpPr>
        <p:spPr>
          <a:xfrm>
            <a:off x="9199418" y="6466172"/>
            <a:ext cx="2992582" cy="166254"/>
          </a:xfrm>
          <a:prstGeom prst="rect">
            <a:avLst/>
          </a:prstGeom>
          <a:solidFill>
            <a:srgbClr val="175C8F"/>
          </a:solidFill>
          <a:ln cap="flat" cmpd="sng" w="19050">
            <a:solidFill>
              <a:srgbClr val="2A186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70C0"/>
              </a:solidFill>
              <a:latin typeface="Arial"/>
              <a:ea typeface="Arial"/>
              <a:cs typeface="Arial"/>
              <a:sym typeface="Arial"/>
            </a:endParaRPr>
          </a:p>
        </p:txBody>
      </p:sp>
      <p:sp>
        <p:nvSpPr>
          <p:cNvPr id="30" name="Google Shape;30;p4"/>
          <p:cNvSpPr/>
          <p:nvPr/>
        </p:nvSpPr>
        <p:spPr>
          <a:xfrm>
            <a:off x="0" y="570565"/>
            <a:ext cx="914400" cy="671094"/>
          </a:xfrm>
          <a:prstGeom prst="rect">
            <a:avLst/>
          </a:prstGeom>
          <a:solidFill>
            <a:srgbClr val="175C8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 name="Google Shape;31;p4"/>
          <p:cNvSpPr txBox="1"/>
          <p:nvPr>
            <p:ph idx="1" type="body"/>
          </p:nvPr>
        </p:nvSpPr>
        <p:spPr>
          <a:xfrm>
            <a:off x="232632" y="1525813"/>
            <a:ext cx="11338560" cy="459361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
          <p:cNvSpPr txBox="1"/>
          <p:nvPr>
            <p:ph idx="2" type="body"/>
          </p:nvPr>
        </p:nvSpPr>
        <p:spPr>
          <a:xfrm>
            <a:off x="1077913" y="569913"/>
            <a:ext cx="5659437" cy="67151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
          <p:cNvSpPr/>
          <p:nvPr/>
        </p:nvSpPr>
        <p:spPr>
          <a:xfrm>
            <a:off x="8808720" y="6466172"/>
            <a:ext cx="203200" cy="208263"/>
          </a:xfrm>
          <a:prstGeom prst="ellipse">
            <a:avLst/>
          </a:prstGeom>
          <a:solidFill>
            <a:srgbClr val="82CA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blue globe with white text&#10;&#10;Description automatically generated" id="34" name="Google Shape;34;p4"/>
          <p:cNvPicPr preferRelativeResize="0"/>
          <p:nvPr/>
        </p:nvPicPr>
        <p:blipFill rotWithShape="1">
          <a:blip r:embed="rId2">
            <a:alphaModFix/>
          </a:blip>
          <a:srcRect b="0" l="0" r="0" t="0"/>
          <a:stretch/>
        </p:blipFill>
        <p:spPr>
          <a:xfrm>
            <a:off x="10539982" y="87276"/>
            <a:ext cx="1148210" cy="150089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Vertical Text">
  <p:cSld name="1_Title and Vertical Text">
    <p:spTree>
      <p:nvGrpSpPr>
        <p:cNvPr id="35" name="Shape 35"/>
        <p:cNvGrpSpPr/>
        <p:nvPr/>
      </p:nvGrpSpPr>
      <p:grpSpPr>
        <a:xfrm>
          <a:off x="0" y="0"/>
          <a:ext cx="0" cy="0"/>
          <a:chOff x="0" y="0"/>
          <a:chExt cx="0" cy="0"/>
        </a:xfrm>
      </p:grpSpPr>
      <p:sp>
        <p:nvSpPr>
          <p:cNvPr id="36" name="Google Shape;36;p5"/>
          <p:cNvSpPr/>
          <p:nvPr/>
        </p:nvSpPr>
        <p:spPr>
          <a:xfrm>
            <a:off x="0" y="6207760"/>
            <a:ext cx="538480" cy="650240"/>
          </a:xfrm>
          <a:prstGeom prst="rect">
            <a:avLst/>
          </a:prstGeom>
          <a:solidFill>
            <a:srgbClr val="2A186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blue globe with white text&#10;&#10;Description automatically generated" id="37" name="Google Shape;37;p5"/>
          <p:cNvPicPr preferRelativeResize="0"/>
          <p:nvPr/>
        </p:nvPicPr>
        <p:blipFill rotWithShape="1">
          <a:blip r:embed="rId2">
            <a:alphaModFix/>
          </a:blip>
          <a:srcRect b="0" l="0" r="0" t="0"/>
          <a:stretch/>
        </p:blipFill>
        <p:spPr>
          <a:xfrm>
            <a:off x="10814117" y="5260767"/>
            <a:ext cx="1040213" cy="1359724"/>
          </a:xfrm>
          <a:prstGeom prst="rect">
            <a:avLst/>
          </a:prstGeom>
          <a:noFill/>
          <a:ln>
            <a:noFill/>
          </a:ln>
        </p:spPr>
      </p:pic>
      <p:sp>
        <p:nvSpPr>
          <p:cNvPr id="38" name="Google Shape;38;p5"/>
          <p:cNvSpPr/>
          <p:nvPr/>
        </p:nvSpPr>
        <p:spPr>
          <a:xfrm>
            <a:off x="128651" y="6087026"/>
            <a:ext cx="538480" cy="650240"/>
          </a:xfrm>
          <a:prstGeom prst="rect">
            <a:avLst/>
          </a:prstGeom>
          <a:solidFill>
            <a:srgbClr val="82CA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54" name="Google Shape;5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7" name="Shape 57"/>
        <p:cNvGrpSpPr/>
        <p:nvPr/>
      </p:nvGrpSpPr>
      <p:grpSpPr>
        <a:xfrm>
          <a:off x="0" y="0"/>
          <a:ext cx="0" cy="0"/>
          <a:chOff x="0" y="0"/>
          <a:chExt cx="0" cy="0"/>
        </a:xfrm>
      </p:grpSpPr>
      <p:sp>
        <p:nvSpPr>
          <p:cNvPr id="58" name="Google Shape;5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4" name="Shape 64"/>
        <p:cNvGrpSpPr/>
        <p:nvPr/>
      </p:nvGrpSpPr>
      <p:grpSpPr>
        <a:xfrm>
          <a:off x="0" y="0"/>
          <a:ext cx="0" cy="0"/>
          <a:chOff x="0" y="0"/>
          <a:chExt cx="0" cy="0"/>
        </a:xfrm>
      </p:grpSpPr>
      <p:sp>
        <p:nvSpPr>
          <p:cNvPr id="65" name="Google Shape;65;p1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1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9" name="Google Shape;69;p1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1" name="Google Shape;81;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3"/>
          <p:cNvSpPr/>
          <p:nvPr>
            <p:ph idx="2" type="pic"/>
          </p:nvPr>
        </p:nvSpPr>
        <p:spPr>
          <a:xfrm>
            <a:off x="5183188" y="987425"/>
            <a:ext cx="6172200" cy="4873625"/>
          </a:xfrm>
          <a:prstGeom prst="rect">
            <a:avLst/>
          </a:prstGeom>
          <a:noFill/>
          <a:ln>
            <a:noFill/>
          </a:ln>
        </p:spPr>
      </p:sp>
      <p:sp>
        <p:nvSpPr>
          <p:cNvPr id="88" name="Google Shape;88;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2" name="Shape 92"/>
        <p:cNvGrpSpPr/>
        <p:nvPr/>
      </p:nvGrpSpPr>
      <p:grpSpPr>
        <a:xfrm>
          <a:off x="0" y="0"/>
          <a:ext cx="0" cy="0"/>
          <a:chOff x="0" y="0"/>
          <a:chExt cx="0" cy="0"/>
        </a:xfrm>
      </p:grpSpPr>
      <p:sp>
        <p:nvSpPr>
          <p:cNvPr id="93" name="Google Shape;9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04" name="Shape 10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cell.com/heliyon/fulltext/S2405-8440(24)10433-1%5B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idx="4294967295" type="title"/>
          </p:nvPr>
        </p:nvSpPr>
        <p:spPr>
          <a:xfrm>
            <a:off x="396815" y="4399296"/>
            <a:ext cx="11568023" cy="612962"/>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2800"/>
              <a:buFont typeface="Play"/>
              <a:buNone/>
            </a:pPr>
            <a:r>
              <a:rPr lang="en-IN" sz="2800"/>
              <a:t>Comparative Deep Neural Study For Stage-Wise Alzheimer’s Disease Detection Using Brain MRI</a:t>
            </a:r>
            <a:endParaRPr sz="2800"/>
          </a:p>
        </p:txBody>
      </p:sp>
      <p:sp>
        <p:nvSpPr>
          <p:cNvPr id="110" name="Google Shape;110;p17"/>
          <p:cNvSpPr txBox="1"/>
          <p:nvPr/>
        </p:nvSpPr>
        <p:spPr>
          <a:xfrm>
            <a:off x="2545829" y="5077964"/>
            <a:ext cx="7100342" cy="135421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600"/>
              <a:buFont typeface="Arial"/>
              <a:buAutoNum type="arabicPeriod"/>
            </a:pPr>
            <a:r>
              <a:rPr b="0" i="0" lang="en-IN" sz="1600" u="none" cap="none" strike="noStrike">
                <a:solidFill>
                  <a:schemeClr val="dk1"/>
                </a:solidFill>
                <a:latin typeface="Arial"/>
                <a:ea typeface="Arial"/>
                <a:cs typeface="Arial"/>
                <a:sym typeface="Arial"/>
              </a:rPr>
              <a:t>Shashank Shetgeri                                                                   Affiliation</a:t>
            </a:r>
            <a:endParaRPr/>
          </a:p>
          <a:p>
            <a:pPr indent="-342900" lvl="0" marL="342900" marR="0" rtl="0" algn="l">
              <a:spcBef>
                <a:spcPts val="0"/>
              </a:spcBef>
              <a:spcAft>
                <a:spcPts val="0"/>
              </a:spcAft>
              <a:buClr>
                <a:schemeClr val="dk1"/>
              </a:buClr>
              <a:buSzPts val="1600"/>
              <a:buFont typeface="Arial"/>
              <a:buAutoNum type="arabicPeriod"/>
            </a:pPr>
            <a:r>
              <a:rPr b="0" i="0" lang="en-IN" sz="1600" u="none" cap="none" strike="noStrike">
                <a:solidFill>
                  <a:schemeClr val="dk1"/>
                </a:solidFill>
                <a:latin typeface="Arial"/>
                <a:ea typeface="Arial"/>
                <a:cs typeface="Arial"/>
                <a:sym typeface="Arial"/>
              </a:rPr>
              <a:t>Srushti Honnangi                                                     Affiliation</a:t>
            </a:r>
            <a:endParaRPr/>
          </a:p>
          <a:p>
            <a:pPr indent="-342900" lvl="0" marL="342900" marR="0" rtl="0" algn="l">
              <a:spcBef>
                <a:spcPts val="0"/>
              </a:spcBef>
              <a:spcAft>
                <a:spcPts val="0"/>
              </a:spcAft>
              <a:buClr>
                <a:schemeClr val="dk1"/>
              </a:buClr>
              <a:buSzPts val="1600"/>
              <a:buFont typeface="Arial"/>
              <a:buAutoNum type="arabicPeriod"/>
            </a:pPr>
            <a:r>
              <a:rPr b="0" i="0" lang="en-IN" sz="1600" u="none" cap="none" strike="noStrike">
                <a:solidFill>
                  <a:schemeClr val="dk1"/>
                </a:solidFill>
                <a:latin typeface="Arial"/>
                <a:ea typeface="Arial"/>
                <a:cs typeface="Arial"/>
                <a:sym typeface="Arial"/>
              </a:rPr>
              <a:t>Anushri Kajagar                                                        Affiliation</a:t>
            </a:r>
            <a:endParaRPr/>
          </a:p>
          <a:p>
            <a:pPr indent="-342900" lvl="0" marL="342900" marR="0" rtl="0" algn="l">
              <a:spcBef>
                <a:spcPts val="0"/>
              </a:spcBef>
              <a:spcAft>
                <a:spcPts val="0"/>
              </a:spcAft>
              <a:buClr>
                <a:schemeClr val="dk1"/>
              </a:buClr>
              <a:buSzPts val="1600"/>
              <a:buFont typeface="Arial"/>
              <a:buAutoNum type="arabicPeriod"/>
            </a:pPr>
            <a:r>
              <a:rPr b="0" i="0" lang="en-IN" sz="1600" u="none" cap="none" strike="noStrike">
                <a:solidFill>
                  <a:schemeClr val="dk1"/>
                </a:solidFill>
                <a:latin typeface="Arial"/>
                <a:ea typeface="Arial"/>
                <a:cs typeface="Arial"/>
                <a:sym typeface="Arial"/>
              </a:rPr>
              <a:t>Tanvi Korgaonkar                                                      Affiliation</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nvSpPr>
        <p:spPr>
          <a:xfrm>
            <a:off x="584200" y="334645"/>
            <a:ext cx="8382000" cy="10116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4400"/>
              <a:buFont typeface="Play"/>
              <a:buNone/>
            </a:pPr>
            <a:r>
              <a:rPr b="1" lang="en-IN" sz="4400">
                <a:solidFill>
                  <a:srgbClr val="002060"/>
                </a:solidFill>
                <a:latin typeface="Play"/>
                <a:ea typeface="Play"/>
                <a:cs typeface="Play"/>
                <a:sym typeface="Play"/>
              </a:rPr>
              <a:t>Contents</a:t>
            </a:r>
            <a:endParaRPr sz="4400">
              <a:solidFill>
                <a:srgbClr val="002060"/>
              </a:solidFill>
              <a:latin typeface="Play"/>
              <a:ea typeface="Play"/>
              <a:cs typeface="Play"/>
              <a:sym typeface="Play"/>
            </a:endParaRPr>
          </a:p>
        </p:txBody>
      </p:sp>
      <p:sp>
        <p:nvSpPr>
          <p:cNvPr id="116" name="Google Shape;116;p18"/>
          <p:cNvSpPr txBox="1"/>
          <p:nvPr/>
        </p:nvSpPr>
        <p:spPr>
          <a:xfrm>
            <a:off x="584200" y="1565232"/>
            <a:ext cx="10528177" cy="4940078"/>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lang="en-IN" sz="2800">
                <a:solidFill>
                  <a:schemeClr val="dk1"/>
                </a:solidFill>
                <a:latin typeface="Arial"/>
                <a:ea typeface="Arial"/>
                <a:cs typeface="Arial"/>
                <a:sym typeface="Arial"/>
              </a:rPr>
              <a:t>Abstract</a:t>
            </a:r>
            <a:endParaRPr/>
          </a:p>
          <a:p>
            <a:pPr indent="-228600" lvl="0" marL="228600" marR="0" rtl="0" algn="l">
              <a:lnSpc>
                <a:spcPct val="90000"/>
              </a:lnSpc>
              <a:spcBef>
                <a:spcPts val="1000"/>
              </a:spcBef>
              <a:spcAft>
                <a:spcPts val="0"/>
              </a:spcAft>
              <a:buClr>
                <a:schemeClr val="dk1"/>
              </a:buClr>
              <a:buSzPts val="2800"/>
              <a:buFont typeface="Arial"/>
              <a:buChar char="•"/>
            </a:pPr>
            <a:r>
              <a:rPr lang="en-IN" sz="2800">
                <a:solidFill>
                  <a:schemeClr val="dk1"/>
                </a:solidFill>
                <a:latin typeface="Arial"/>
                <a:ea typeface="Arial"/>
                <a:cs typeface="Arial"/>
                <a:sym typeface="Arial"/>
              </a:rPr>
              <a:t>Introduction</a:t>
            </a:r>
            <a:endParaRPr/>
          </a:p>
          <a:p>
            <a:pPr indent="-228600" lvl="0" marL="228600" marR="0" rtl="0" algn="l">
              <a:lnSpc>
                <a:spcPct val="90000"/>
              </a:lnSpc>
              <a:spcBef>
                <a:spcPts val="1000"/>
              </a:spcBef>
              <a:spcAft>
                <a:spcPts val="0"/>
              </a:spcAft>
              <a:buClr>
                <a:schemeClr val="dk1"/>
              </a:buClr>
              <a:buSzPts val="2800"/>
              <a:buFont typeface="Arial"/>
              <a:buChar char="•"/>
            </a:pPr>
            <a:r>
              <a:rPr lang="en-IN" sz="2800">
                <a:solidFill>
                  <a:schemeClr val="dk1"/>
                </a:solidFill>
                <a:latin typeface="Arial"/>
                <a:ea typeface="Arial"/>
                <a:cs typeface="Arial"/>
                <a:sym typeface="Arial"/>
              </a:rPr>
              <a:t>Literature Survey</a:t>
            </a:r>
            <a:endParaRPr/>
          </a:p>
          <a:p>
            <a:pPr indent="-228600" lvl="0" marL="228600" marR="0" rtl="0" algn="l">
              <a:lnSpc>
                <a:spcPct val="90000"/>
              </a:lnSpc>
              <a:spcBef>
                <a:spcPts val="1000"/>
              </a:spcBef>
              <a:spcAft>
                <a:spcPts val="0"/>
              </a:spcAft>
              <a:buClr>
                <a:schemeClr val="dk1"/>
              </a:buClr>
              <a:buSzPts val="2800"/>
              <a:buFont typeface="Arial"/>
              <a:buChar char="•"/>
            </a:pPr>
            <a:r>
              <a:rPr lang="en-IN" sz="2800">
                <a:solidFill>
                  <a:schemeClr val="dk1"/>
                </a:solidFill>
                <a:latin typeface="Arial"/>
                <a:ea typeface="Arial"/>
                <a:cs typeface="Arial"/>
                <a:sym typeface="Arial"/>
              </a:rPr>
              <a:t>Problem Definition</a:t>
            </a:r>
            <a:endParaRPr/>
          </a:p>
          <a:p>
            <a:pPr indent="-228600" lvl="0" marL="228600" marR="0" rtl="0" algn="l">
              <a:lnSpc>
                <a:spcPct val="90000"/>
              </a:lnSpc>
              <a:spcBef>
                <a:spcPts val="1000"/>
              </a:spcBef>
              <a:spcAft>
                <a:spcPts val="0"/>
              </a:spcAft>
              <a:buClr>
                <a:schemeClr val="dk1"/>
              </a:buClr>
              <a:buSzPts val="2800"/>
              <a:buFont typeface="Arial"/>
              <a:buChar char="•"/>
            </a:pPr>
            <a:r>
              <a:rPr lang="en-IN" sz="2800">
                <a:solidFill>
                  <a:schemeClr val="dk1"/>
                </a:solidFill>
                <a:latin typeface="Arial"/>
                <a:ea typeface="Arial"/>
                <a:cs typeface="Arial"/>
                <a:sym typeface="Arial"/>
              </a:rPr>
              <a:t>Proposed Work</a:t>
            </a:r>
            <a:endParaRPr/>
          </a:p>
          <a:p>
            <a:pPr indent="-228600" lvl="0" marL="228600" marR="0" rtl="0" algn="l">
              <a:lnSpc>
                <a:spcPct val="90000"/>
              </a:lnSpc>
              <a:spcBef>
                <a:spcPts val="1000"/>
              </a:spcBef>
              <a:spcAft>
                <a:spcPts val="0"/>
              </a:spcAft>
              <a:buClr>
                <a:schemeClr val="dk1"/>
              </a:buClr>
              <a:buSzPts val="2800"/>
              <a:buFont typeface="Arial"/>
              <a:buChar char="•"/>
            </a:pPr>
            <a:r>
              <a:rPr lang="en-IN" sz="2800">
                <a:solidFill>
                  <a:schemeClr val="dk1"/>
                </a:solidFill>
                <a:latin typeface="Arial"/>
                <a:ea typeface="Arial"/>
                <a:cs typeface="Arial"/>
                <a:sym typeface="Arial"/>
              </a:rPr>
              <a:t>Methodology &amp;Implementation</a:t>
            </a:r>
            <a:endParaRPr/>
          </a:p>
          <a:p>
            <a:pPr indent="-228600" lvl="0" marL="228600" marR="0" rtl="0" algn="l">
              <a:lnSpc>
                <a:spcPct val="90000"/>
              </a:lnSpc>
              <a:spcBef>
                <a:spcPts val="1000"/>
              </a:spcBef>
              <a:spcAft>
                <a:spcPts val="0"/>
              </a:spcAft>
              <a:buClr>
                <a:schemeClr val="dk1"/>
              </a:buClr>
              <a:buSzPts val="2800"/>
              <a:buFont typeface="Arial"/>
              <a:buChar char="•"/>
            </a:pPr>
            <a:r>
              <a:rPr lang="en-IN" sz="2800">
                <a:solidFill>
                  <a:schemeClr val="dk1"/>
                </a:solidFill>
                <a:latin typeface="Arial"/>
                <a:ea typeface="Arial"/>
                <a:cs typeface="Arial"/>
                <a:sym typeface="Arial"/>
              </a:rPr>
              <a:t>Results &amp; Discussions</a:t>
            </a:r>
            <a:endParaRPr/>
          </a:p>
          <a:p>
            <a:pPr indent="-228600" lvl="0" marL="228600" marR="0" rtl="0" algn="l">
              <a:lnSpc>
                <a:spcPct val="90000"/>
              </a:lnSpc>
              <a:spcBef>
                <a:spcPts val="1000"/>
              </a:spcBef>
              <a:spcAft>
                <a:spcPts val="0"/>
              </a:spcAft>
              <a:buClr>
                <a:schemeClr val="dk1"/>
              </a:buClr>
              <a:buSzPts val="2800"/>
              <a:buFont typeface="Arial"/>
              <a:buChar char="•"/>
            </a:pPr>
            <a:r>
              <a:rPr lang="en-IN" sz="2800">
                <a:solidFill>
                  <a:schemeClr val="dk1"/>
                </a:solidFill>
                <a:latin typeface="Arial"/>
                <a:ea typeface="Arial"/>
                <a:cs typeface="Arial"/>
                <a:sym typeface="Arial"/>
              </a:rPr>
              <a:t>Conclusion</a:t>
            </a:r>
            <a:endParaRPr/>
          </a:p>
          <a:p>
            <a:pPr indent="-228600" lvl="0" marL="228600" marR="0" rtl="0" algn="l">
              <a:lnSpc>
                <a:spcPct val="90000"/>
              </a:lnSpc>
              <a:spcBef>
                <a:spcPts val="1000"/>
              </a:spcBef>
              <a:spcAft>
                <a:spcPts val="0"/>
              </a:spcAft>
              <a:buClr>
                <a:schemeClr val="dk1"/>
              </a:buClr>
              <a:buSzPts val="2800"/>
              <a:buFont typeface="Arial"/>
              <a:buChar char="•"/>
            </a:pPr>
            <a:r>
              <a:rPr lang="en-IN" sz="2800">
                <a:solidFill>
                  <a:schemeClr val="dk1"/>
                </a:solidFill>
                <a:latin typeface="Arial"/>
                <a:ea typeface="Arial"/>
                <a:cs typeface="Arial"/>
                <a:sym typeface="Arial"/>
              </a:rPr>
              <a:t>References</a:t>
            </a:r>
            <a:endParaRPr sz="28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idx="2" type="body"/>
          </p:nvPr>
        </p:nvSpPr>
        <p:spPr>
          <a:xfrm>
            <a:off x="1077913" y="569913"/>
            <a:ext cx="5659437" cy="67151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F4861"/>
              </a:buClr>
              <a:buSzPts val="4000"/>
              <a:buNone/>
            </a:pPr>
            <a:r>
              <a:rPr b="1" lang="en-IN" sz="4000">
                <a:solidFill>
                  <a:srgbClr val="0F4861"/>
                </a:solidFill>
              </a:rPr>
              <a:t>Abstract</a:t>
            </a:r>
            <a:endParaRPr sz="4000">
              <a:solidFill>
                <a:srgbClr val="0F4861"/>
              </a:solidFill>
            </a:endParaRPr>
          </a:p>
        </p:txBody>
      </p:sp>
      <p:sp>
        <p:nvSpPr>
          <p:cNvPr id="122" name="Google Shape;122;p19"/>
          <p:cNvSpPr txBox="1"/>
          <p:nvPr>
            <p:ph idx="1" type="body"/>
          </p:nvPr>
        </p:nvSpPr>
        <p:spPr>
          <a:xfrm>
            <a:off x="724706" y="1662375"/>
            <a:ext cx="10334726" cy="378565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al"/>
              <a:buNone/>
            </a:pPr>
            <a:r>
              <a:rPr b="0" i="0" lang="en-IN" sz="2400" u="none" cap="none" strike="noStrike">
                <a:solidFill>
                  <a:schemeClr val="dk1"/>
                </a:solidFill>
                <a:latin typeface="Arial"/>
                <a:ea typeface="Arial"/>
                <a:cs typeface="Arial"/>
                <a:sym typeface="Arial"/>
              </a:rPr>
              <a:t>Alzheimer’s disease (AD) is a progressive neurological disorder where accurate stage recognition is essential for treatment planning. This study classifies four stages (Non, Very Mild, Mild, Moderate dementia) using balanced ADNI MRI data. A unified deep-learning pipeline with one custom CNN and five transfer-learning models (VGG16, ResNet50, DenseNet201, InceptionV3, EfficientNet-B1) was developed with consistent</a:t>
            </a:r>
            <a:r>
              <a:rPr lang="en-IN" sz="2400">
                <a:latin typeface="Arial"/>
                <a:ea typeface="Arial"/>
                <a:cs typeface="Arial"/>
                <a:sym typeface="Arial"/>
              </a:rPr>
              <a:t> </a:t>
            </a:r>
            <a:r>
              <a:rPr b="0" i="0" lang="en-IN" sz="2400" u="none" cap="none" strike="noStrike">
                <a:solidFill>
                  <a:schemeClr val="dk1"/>
                </a:solidFill>
                <a:latin typeface="Arial"/>
                <a:ea typeface="Arial"/>
                <a:cs typeface="Arial"/>
                <a:sym typeface="Arial"/>
              </a:rPr>
              <a:t>preprocessing and training. The custom CNN, VGG16, and DenseNet201 achieved 95–98% accuracy and macro-F1, outperforming EfficientNet-B1 and InceptionV3. Results indicate well-tuned 2D CNNs are highly effective for stage-wise AD classification and suitable for clinical CAD applications.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idx="2" type="body"/>
          </p:nvPr>
        </p:nvSpPr>
        <p:spPr>
          <a:xfrm>
            <a:off x="1077913" y="569913"/>
            <a:ext cx="5659437" cy="67151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2060"/>
              </a:buClr>
              <a:buSzPts val="4000"/>
              <a:buNone/>
            </a:pPr>
            <a:r>
              <a:rPr b="1" lang="en-IN" sz="4000">
                <a:solidFill>
                  <a:srgbClr val="002060"/>
                </a:solidFill>
              </a:rPr>
              <a:t>Introduction</a:t>
            </a:r>
            <a:endParaRPr b="1" sz="4000">
              <a:solidFill>
                <a:srgbClr val="002060"/>
              </a:solidFill>
            </a:endParaRPr>
          </a:p>
        </p:txBody>
      </p:sp>
      <p:sp>
        <p:nvSpPr>
          <p:cNvPr id="128" name="Google Shape;128;p20"/>
          <p:cNvSpPr txBox="1"/>
          <p:nvPr>
            <p:ph idx="1" type="body"/>
          </p:nvPr>
        </p:nvSpPr>
        <p:spPr>
          <a:xfrm>
            <a:off x="195308" y="1816151"/>
            <a:ext cx="11208813" cy="4154984"/>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al"/>
              <a:buNone/>
            </a:pPr>
            <a:r>
              <a:rPr b="0" i="0" lang="en-IN" sz="2400" u="none" cap="none" strike="noStrike">
                <a:solidFill>
                  <a:schemeClr val="dk1"/>
                </a:solidFill>
                <a:latin typeface="Arial"/>
                <a:ea typeface="Arial"/>
                <a:cs typeface="Arial"/>
                <a:sym typeface="Arial"/>
              </a:rPr>
              <a:t>Alzheimer’s disease (AD) progressively damages brain cells, affecting memory, language, reasoning, and</a:t>
            </a:r>
            <a:r>
              <a:rPr lang="en-IN" sz="2400">
                <a:latin typeface="Arial"/>
                <a:ea typeface="Arial"/>
                <a:cs typeface="Arial"/>
                <a:sym typeface="Arial"/>
              </a:rPr>
              <a:t> </a:t>
            </a:r>
            <a:r>
              <a:rPr b="0" i="0" lang="en-IN" sz="2400" u="none" cap="none" strike="noStrike">
                <a:solidFill>
                  <a:schemeClr val="dk1"/>
                </a:solidFill>
                <a:latin typeface="Arial"/>
                <a:ea typeface="Arial"/>
                <a:cs typeface="Arial"/>
                <a:sym typeface="Arial"/>
              </a:rPr>
              <a:t>behavior, especially in older adults, and reducing quality of life. With increasing life expectancy, AD cases</a:t>
            </a:r>
            <a:r>
              <a:rPr lang="en-IN" sz="2400">
                <a:latin typeface="Arial"/>
                <a:ea typeface="Arial"/>
                <a:cs typeface="Arial"/>
                <a:sym typeface="Arial"/>
              </a:rPr>
              <a:t> </a:t>
            </a:r>
            <a:r>
              <a:rPr b="0" i="0" lang="en-IN" sz="2400" u="none" cap="none" strike="noStrike">
                <a:solidFill>
                  <a:schemeClr val="dk1"/>
                </a:solidFill>
                <a:latin typeface="Arial"/>
                <a:ea typeface="Arial"/>
                <a:cs typeface="Arial"/>
                <a:sym typeface="Arial"/>
              </a:rPr>
              <a:t>are rising, creating healthcare challenges and making early, accurate stage detection essential for treatment planning. Structural MRI is widely used to examine brain anatomy and detect atrophy non-invasively, while PET and other scans also support AD assessment. Deep learning has enhanced image interpretation, enabling faster and more reliable diagnosis. A dependable stage-wise classifier can assist radiologists by automatically identifying early dementia cases for timely review. This work aims to develop a unified deep-learning pipeline for four-stage AD classification and compare multiple models.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idx="2" type="body"/>
          </p:nvPr>
        </p:nvSpPr>
        <p:spPr>
          <a:xfrm>
            <a:off x="1077913" y="569913"/>
            <a:ext cx="5659437" cy="67151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rgbClr val="002060"/>
              </a:buClr>
              <a:buSzPts val="4000"/>
              <a:buNone/>
            </a:pPr>
            <a:r>
              <a:rPr b="1" lang="en-IN" sz="4000">
                <a:solidFill>
                  <a:srgbClr val="002060"/>
                </a:solidFill>
              </a:rPr>
              <a:t>Literature Survey</a:t>
            </a:r>
            <a:endParaRPr b="1" sz="4000">
              <a:solidFill>
                <a:srgbClr val="002060"/>
              </a:solidFill>
            </a:endParaRPr>
          </a:p>
        </p:txBody>
      </p:sp>
      <p:graphicFrame>
        <p:nvGraphicFramePr>
          <p:cNvPr id="134" name="Google Shape;134;p21"/>
          <p:cNvGraphicFramePr/>
          <p:nvPr/>
        </p:nvGraphicFramePr>
        <p:xfrm>
          <a:off x="809100" y="1681725"/>
          <a:ext cx="3000000" cy="3000000"/>
        </p:xfrm>
        <a:graphic>
          <a:graphicData uri="http://schemas.openxmlformats.org/drawingml/2006/table">
            <a:tbl>
              <a:tblPr>
                <a:noFill/>
                <a:tableStyleId>{16E15896-FB06-4D1E-A19B-BF0D32EF536D}</a:tableStyleId>
              </a:tblPr>
              <a:tblGrid>
                <a:gridCol w="2057400"/>
                <a:gridCol w="2057400"/>
                <a:gridCol w="2057400"/>
                <a:gridCol w="2057400"/>
                <a:gridCol w="2057400"/>
              </a:tblGrid>
              <a:tr h="381000">
                <a:tc>
                  <a:txBody>
                    <a:bodyPr/>
                    <a:lstStyle/>
                    <a:p>
                      <a:pPr indent="0" lvl="0" marL="0" rtl="0" algn="l">
                        <a:lnSpc>
                          <a:spcPct val="100000"/>
                        </a:lnSpc>
                        <a:spcBef>
                          <a:spcPts val="1100"/>
                        </a:spcBef>
                        <a:spcAft>
                          <a:spcPts val="1100"/>
                        </a:spcAft>
                        <a:buNone/>
                      </a:pPr>
                      <a:r>
                        <a:rPr b="1" lang="en-IN" sz="1500"/>
                        <a:t>Author &amp; Year</a:t>
                      </a:r>
                      <a:endParaRPr b="1" sz="1500"/>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sz="1500"/>
                        <a:t>Data / Features Used</a:t>
                      </a:r>
                      <a:endParaRPr b="1" sz="1500"/>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sz="1500"/>
                        <a:t>Model Used</a:t>
                      </a:r>
                      <a:endParaRPr b="1" sz="1500"/>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sz="1500"/>
                        <a:t>Accuracy / Findings</a:t>
                      </a:r>
                      <a:endParaRPr b="1" sz="1500"/>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sz="1500"/>
                        <a:t>Limitation / Research gap</a:t>
                      </a:r>
                      <a:endParaRPr b="1" sz="1500"/>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sz="1500"/>
                        <a:t>Chen et al. (2024)</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Structural MRI</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Improved ResNet50‑based deep model</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≈98% AD accuracy.​</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Single‑dataset, no broad external test.​</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sz="1500"/>
                        <a:t>Turrisi et al. (2024)</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MRI (ADNI)</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CNNs with varied setups</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1100"/>
                        </a:spcBef>
                        <a:spcAft>
                          <a:spcPts val="1100"/>
                        </a:spcAft>
                        <a:buClr>
                          <a:schemeClr val="dk1"/>
                        </a:buClr>
                        <a:buSzPts val="1100"/>
                        <a:buFont typeface="Arial"/>
                        <a:buNone/>
                      </a:pPr>
                      <a:r>
                        <a:rPr lang="en-IN" sz="1600">
                          <a:solidFill>
                            <a:schemeClr val="dk1"/>
                          </a:solidFill>
                        </a:rPr>
                        <a:t>Shows modeling choices change accuracy by 82%.</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Study is analysis‑focused, not an optimized solution.​</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sz="1500"/>
                        <a:t>El‑Assy et al. (2024)</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Early‑stage AD MRI</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Novel CNN</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Mid/high‑90% early‑AD accuracy.​</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Limited </a:t>
                      </a:r>
                      <a:r>
                        <a:rPr lang="en-IN" sz="1500"/>
                        <a:t>multicenter</a:t>
                      </a:r>
                      <a:r>
                        <a:rPr lang="en-IN" sz="1500"/>
                        <a:t> validation.​</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sz="1500"/>
                        <a:t>Shaji &amp; Helaly (2025)</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MRI (AD, MCI, HC)</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CNN multi‑class framework</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&gt;95% stage accuracy.​</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Few comparisons with newer models.​</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sz="1500"/>
                        <a:t>Alharbi (2024)</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MRI‑based brain graphs</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Spectral GCN</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≈95% accuracy, better than CNNs.​</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sz="1500"/>
                        <a:t>Graph design and interpretability still weak.​</a:t>
                      </a:r>
                      <a:endParaRPr sz="1500"/>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idx="2" type="body"/>
          </p:nvPr>
        </p:nvSpPr>
        <p:spPr>
          <a:xfrm>
            <a:off x="1077913" y="569913"/>
            <a:ext cx="5659500" cy="6714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rgbClr val="002060"/>
              </a:buClr>
              <a:buSzPts val="4000"/>
              <a:buNone/>
            </a:pPr>
            <a:r>
              <a:rPr b="1" lang="en-IN" sz="4000">
                <a:solidFill>
                  <a:srgbClr val="002060"/>
                </a:solidFill>
              </a:rPr>
              <a:t>Literature Survey</a:t>
            </a:r>
            <a:endParaRPr b="1" sz="4000">
              <a:solidFill>
                <a:srgbClr val="002060"/>
              </a:solidFill>
            </a:endParaRPr>
          </a:p>
        </p:txBody>
      </p:sp>
      <p:graphicFrame>
        <p:nvGraphicFramePr>
          <p:cNvPr id="140" name="Google Shape;140;p22"/>
          <p:cNvGraphicFramePr/>
          <p:nvPr/>
        </p:nvGraphicFramePr>
        <p:xfrm>
          <a:off x="809100" y="1681725"/>
          <a:ext cx="3000000" cy="3000000"/>
        </p:xfrm>
        <a:graphic>
          <a:graphicData uri="http://schemas.openxmlformats.org/drawingml/2006/table">
            <a:tbl>
              <a:tblPr>
                <a:noFill/>
                <a:tableStyleId>{16E15896-FB06-4D1E-A19B-BF0D32EF536D}</a:tableStyleId>
              </a:tblPr>
              <a:tblGrid>
                <a:gridCol w="2057400"/>
                <a:gridCol w="2057400"/>
                <a:gridCol w="2057400"/>
                <a:gridCol w="2057400"/>
                <a:gridCol w="2057400"/>
              </a:tblGrid>
              <a:tr h="381000">
                <a:tc>
                  <a:txBody>
                    <a:bodyPr/>
                    <a:lstStyle/>
                    <a:p>
                      <a:pPr indent="0" lvl="0" marL="0" rtl="0" algn="l">
                        <a:lnSpc>
                          <a:spcPct val="100000"/>
                        </a:lnSpc>
                        <a:spcBef>
                          <a:spcPts val="1100"/>
                        </a:spcBef>
                        <a:spcAft>
                          <a:spcPts val="1100"/>
                        </a:spcAft>
                        <a:buNone/>
                      </a:pPr>
                      <a:r>
                        <a:rPr b="1" lang="en-IN"/>
                        <a:t>Author &amp; Year</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a:t>Data / Features Used</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a:t>Model Used</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a:t>Accuracy / Findings</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a:t>Limitation / Research gap</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Vinukonda et al. (2025)</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MRI (4 classes: ND, VMD, MD, MOD)</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IDeepLabV3+ + LeNet‑5 + Enhanced ResNeXt</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≈98% multi‑class accuracy for early and multi‑stage AD.​</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Single dataset; clinical generalization unclear.​</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Arya et al. (2023)</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MRI, PET, clinical (review)</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ML &amp; DL (SVM, CNN, hybrid)</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Many studies 80–90%; some multimodal low‑/mid‑90%.​</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Datasets small, imbalanced; few external validations.​</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Sorour et al. (2024)</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Structural MRI</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Deep CNN</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High AD/MCI/control accuracy (≈95%+).​</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Limited sites; effect of scanner variation not studied.​</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Fundación Dialnet (2024)</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MRI, PET, biomarkers (review)</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ML/DL, hybrid, graph models</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Imaging + biomarkers improves stage‑wise AD classification.​</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Need standard multimodal benchmarks and interpretable models.​</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Bit et al. (2024)</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MRI for mild cognitive disease</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U‑Net + EfficientNet + SVM</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≈97–98% accuracy with explanations.​</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No longitudinal or multi‑center testing.​</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3"/>
          <p:cNvSpPr txBox="1"/>
          <p:nvPr>
            <p:ph idx="2" type="body"/>
          </p:nvPr>
        </p:nvSpPr>
        <p:spPr>
          <a:xfrm>
            <a:off x="1077913" y="569913"/>
            <a:ext cx="5659500" cy="67140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rgbClr val="002060"/>
              </a:buClr>
              <a:buSzPts val="4000"/>
              <a:buNone/>
            </a:pPr>
            <a:r>
              <a:rPr b="1" lang="en-IN" sz="4000">
                <a:solidFill>
                  <a:srgbClr val="002060"/>
                </a:solidFill>
              </a:rPr>
              <a:t>Literature Survey</a:t>
            </a:r>
            <a:endParaRPr b="1" sz="4000">
              <a:solidFill>
                <a:srgbClr val="002060"/>
              </a:solidFill>
            </a:endParaRPr>
          </a:p>
        </p:txBody>
      </p:sp>
      <p:graphicFrame>
        <p:nvGraphicFramePr>
          <p:cNvPr id="146" name="Google Shape;146;p23"/>
          <p:cNvGraphicFramePr/>
          <p:nvPr/>
        </p:nvGraphicFramePr>
        <p:xfrm>
          <a:off x="809100" y="1681725"/>
          <a:ext cx="3000000" cy="3000000"/>
        </p:xfrm>
        <a:graphic>
          <a:graphicData uri="http://schemas.openxmlformats.org/drawingml/2006/table">
            <a:tbl>
              <a:tblPr>
                <a:noFill/>
                <a:tableStyleId>{16E15896-FB06-4D1E-A19B-BF0D32EF536D}</a:tableStyleId>
              </a:tblPr>
              <a:tblGrid>
                <a:gridCol w="2057400"/>
                <a:gridCol w="2057400"/>
                <a:gridCol w="2057400"/>
                <a:gridCol w="2057400"/>
                <a:gridCol w="2057400"/>
              </a:tblGrid>
              <a:tr h="381000">
                <a:tc>
                  <a:txBody>
                    <a:bodyPr/>
                    <a:lstStyle/>
                    <a:p>
                      <a:pPr indent="0" lvl="0" marL="0" rtl="0" algn="l">
                        <a:lnSpc>
                          <a:spcPct val="100000"/>
                        </a:lnSpc>
                        <a:spcBef>
                          <a:spcPts val="1100"/>
                        </a:spcBef>
                        <a:spcAft>
                          <a:spcPts val="1100"/>
                        </a:spcAft>
                        <a:buNone/>
                      </a:pPr>
                      <a:r>
                        <a:rPr b="1" lang="en-IN"/>
                        <a:t>Author &amp; Year</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a:t>Data / Features Used</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a:t>Model Used</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a:t>Accuracy / Findings</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b="1" lang="en-IN"/>
                        <a:t>Limitation / Research gap</a:t>
                      </a:r>
                      <a:endParaRPr b="1"/>
                    </a:p>
                  </a:txBody>
                  <a:tcPr marT="76200" marB="76200" marR="76200" marL="762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Rao &amp; Aparna (2023)</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MRI</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Deep CNN / transfer learning</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Accuracy just above 90% for AD severity analysis.​</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Below top accuracy; no multimodal comparison.​</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Odusami et al. (2024)</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MRI + PET</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Multimodal deep learning</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Multimodal PET+MRI outperforms single‑modality models.​</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PET costly and less available for routine use.​</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Raza et al. (2024)</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Multi‑view MRI</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Ensemble CNN</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≈97–98% accuracy using multi‑view MRI slices.​</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High computation; deployment not discussed.​</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Vashishtha (2023)</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MRI with class imbalance</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Hybrid DL + SMOTE</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≈99% accuracy for early AD detection.​</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SMOTE may overfit; needs external validation.​</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00000"/>
                        </a:lnSpc>
                        <a:spcBef>
                          <a:spcPts val="1100"/>
                        </a:spcBef>
                        <a:spcAft>
                          <a:spcPts val="1100"/>
                        </a:spcAft>
                        <a:buNone/>
                      </a:pPr>
                      <a:r>
                        <a:rPr lang="en-IN"/>
                        <a:t>Baili &amp; Alqahtani (2025)</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MRI + other neuroimaging</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Deep multi‑class classifier</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Improved AD vs other neurodegenerative diseases (often ≥95%).​</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1100"/>
                        </a:spcBef>
                        <a:spcAft>
                          <a:spcPts val="1100"/>
                        </a:spcAft>
                        <a:buNone/>
                      </a:pPr>
                      <a:r>
                        <a:rPr lang="en-IN"/>
                        <a:t>Limited diseases and prospective clinical testing.</a:t>
                      </a:r>
                      <a:endParaRPr/>
                    </a:p>
                  </a:txBody>
                  <a:tcPr marT="68950" marB="68950" marR="76200" marL="762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4"/>
          <p:cNvSpPr txBox="1"/>
          <p:nvPr>
            <p:ph idx="2" type="body"/>
          </p:nvPr>
        </p:nvSpPr>
        <p:spPr>
          <a:xfrm>
            <a:off x="985520" y="436879"/>
            <a:ext cx="5711191" cy="601345"/>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rgbClr val="002060"/>
              </a:buClr>
              <a:buSzPts val="4000"/>
              <a:buNone/>
            </a:pPr>
            <a:r>
              <a:rPr b="1" lang="en-IN" sz="4000">
                <a:solidFill>
                  <a:srgbClr val="002060"/>
                </a:solidFill>
              </a:rPr>
              <a:t>Problem Definition</a:t>
            </a:r>
            <a:br>
              <a:rPr b="1" lang="en-IN" sz="4000">
                <a:solidFill>
                  <a:srgbClr val="002060"/>
                </a:solidFill>
              </a:rPr>
            </a:br>
            <a:endParaRPr b="1" sz="4000">
              <a:solidFill>
                <a:srgbClr val="002060"/>
              </a:solidFill>
            </a:endParaRPr>
          </a:p>
        </p:txBody>
      </p:sp>
      <p:sp>
        <p:nvSpPr>
          <p:cNvPr id="152" name="Google Shape;152;p24"/>
          <p:cNvSpPr txBox="1"/>
          <p:nvPr>
            <p:ph idx="1" type="body"/>
          </p:nvPr>
        </p:nvSpPr>
        <p:spPr>
          <a:xfrm>
            <a:off x="232632" y="1929796"/>
            <a:ext cx="11447533" cy="378565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400"/>
              <a:buFont typeface="Arial"/>
              <a:buNone/>
            </a:pPr>
            <a:br>
              <a:rPr b="0" i="0" lang="en-IN" sz="2400" u="none" cap="none" strike="noStrike">
                <a:solidFill>
                  <a:schemeClr val="dk1"/>
                </a:solidFill>
                <a:latin typeface="Arial"/>
                <a:ea typeface="Arial"/>
                <a:cs typeface="Arial"/>
                <a:sym typeface="Arial"/>
              </a:rPr>
            </a:br>
            <a:r>
              <a:rPr b="0" i="0" lang="en-IN" sz="2400" u="none" cap="none" strike="noStrike">
                <a:solidFill>
                  <a:schemeClr val="dk1"/>
                </a:solidFill>
                <a:latin typeface="Arial"/>
                <a:ea typeface="Arial"/>
                <a:cs typeface="Arial"/>
                <a:sym typeface="Arial"/>
              </a:rPr>
              <a:t>Alzheimer’s disease requires accurate stage-wise identification to support timely treatment and clinical decision-making. However, many existing studies either focus on limited classes or lack consistent evaluation across multiple deep-learning architectures. There is a need for a unified and reliable system that can classify </a:t>
            </a:r>
            <a:endParaRPr/>
          </a:p>
          <a:p>
            <a:pPr indent="0" lvl="0" marL="0" marR="0" rtl="0" algn="just">
              <a:lnSpc>
                <a:spcPct val="100000"/>
              </a:lnSpc>
              <a:spcBef>
                <a:spcPts val="0"/>
              </a:spcBef>
              <a:spcAft>
                <a:spcPts val="0"/>
              </a:spcAft>
              <a:buClr>
                <a:schemeClr val="dk1"/>
              </a:buClr>
              <a:buSzPts val="2400"/>
              <a:buFont typeface="Arial"/>
              <a:buNone/>
            </a:pPr>
            <a:r>
              <a:rPr b="0" i="0" lang="en-IN" sz="2400" u="none" cap="none" strike="noStrike">
                <a:solidFill>
                  <a:schemeClr val="dk1"/>
                </a:solidFill>
                <a:latin typeface="Arial"/>
                <a:ea typeface="Arial"/>
                <a:cs typeface="Arial"/>
                <a:sym typeface="Arial"/>
              </a:rPr>
              <a:t>four AD stages (Non, Very Mild, Mild, Moderate dementia) using structural MRI with high accuracy and clinical reliability. This work addresses the problem by developing and comparing multiple CNN-based deep-learning models within a standardized pipeline to determine the most effective approach for stage-wise AD detection.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idx="1" type="body"/>
          </p:nvPr>
        </p:nvSpPr>
        <p:spPr>
          <a:xfrm>
            <a:off x="232632" y="1525813"/>
            <a:ext cx="11338560" cy="459361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This work aims to develop a unified deep-learning pipeline for classifying Alzheimer’s disease into four stages—Non, Very Mild, Mild, and Moderate dementia—using structural brain MRI. The study evaluates a custom CNN alongside five transfer-learning architectures (VGG16, ResNet50, DenseNet201, InceptionV3, and EfficientNet-B1) under the same preprocessing, augmentation, and stratified training setup to determine which model families deliver the most reliable stage-wise diagnosis and clinical applicability.</a:t>
            </a:r>
            <a:endParaRPr/>
          </a:p>
        </p:txBody>
      </p:sp>
      <p:sp>
        <p:nvSpPr>
          <p:cNvPr id="158" name="Google Shape;158;p25"/>
          <p:cNvSpPr txBox="1"/>
          <p:nvPr>
            <p:ph idx="2" type="body"/>
          </p:nvPr>
        </p:nvSpPr>
        <p:spPr>
          <a:xfrm>
            <a:off x="1077913" y="508953"/>
            <a:ext cx="5659437" cy="671512"/>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rgbClr val="002060"/>
              </a:buClr>
              <a:buSzPts val="4000"/>
              <a:buNone/>
            </a:pPr>
            <a:r>
              <a:rPr b="1" lang="en-IN" sz="4000">
                <a:solidFill>
                  <a:srgbClr val="002060"/>
                </a:solidFill>
              </a:rPr>
              <a:t>Proposed Work</a:t>
            </a:r>
            <a:br>
              <a:rPr b="1" lang="en-IN" sz="4000">
                <a:solidFill>
                  <a:srgbClr val="002060"/>
                </a:solidFill>
              </a:rPr>
            </a:br>
            <a:endParaRPr b="1" sz="4000">
              <a:solidFill>
                <a:srgbClr val="00206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idx="2" type="body"/>
          </p:nvPr>
        </p:nvSpPr>
        <p:spPr>
          <a:xfrm>
            <a:off x="1016953" y="508953"/>
            <a:ext cx="7669847" cy="671512"/>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rgbClr val="002060"/>
              </a:buClr>
              <a:buSzPts val="4000"/>
              <a:buNone/>
            </a:pPr>
            <a:r>
              <a:rPr b="1" lang="en-IN" sz="4000">
                <a:solidFill>
                  <a:srgbClr val="002060"/>
                </a:solidFill>
              </a:rPr>
              <a:t>Methodology &amp; Implementation</a:t>
            </a:r>
            <a:br>
              <a:rPr b="1" lang="en-IN" sz="4000">
                <a:solidFill>
                  <a:srgbClr val="002060"/>
                </a:solidFill>
              </a:rPr>
            </a:br>
            <a:endParaRPr b="1" sz="4000">
              <a:solidFill>
                <a:srgbClr val="002060"/>
              </a:solidFill>
            </a:endParaRPr>
          </a:p>
        </p:txBody>
      </p:sp>
      <p:sp>
        <p:nvSpPr>
          <p:cNvPr id="164" name="Google Shape;164;p26"/>
          <p:cNvSpPr txBox="1"/>
          <p:nvPr>
            <p:ph idx="1" type="body"/>
          </p:nvPr>
        </p:nvSpPr>
        <p:spPr>
          <a:xfrm>
            <a:off x="232632" y="2299126"/>
            <a:ext cx="11024840" cy="304698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IN" sz="2400" u="none" cap="none" strike="noStrike">
                <a:solidFill>
                  <a:schemeClr val="dk1"/>
                </a:solidFill>
                <a:latin typeface="Arial"/>
                <a:ea typeface="Arial"/>
                <a:cs typeface="Arial"/>
                <a:sym typeface="Arial"/>
              </a:rPr>
              <a:t>The MRI dataset is balanced across four diagnostic classes and split using patient-wise stratified partitioning</a:t>
            </a:r>
            <a:r>
              <a:rPr lang="en-IN" sz="2400">
                <a:latin typeface="Arial"/>
                <a:ea typeface="Arial"/>
                <a:cs typeface="Arial"/>
                <a:sym typeface="Arial"/>
              </a:rPr>
              <a:t> </a:t>
            </a:r>
            <a:r>
              <a:rPr b="0" i="0" lang="en-IN" sz="2400" u="none" cap="none" strike="noStrike">
                <a:solidFill>
                  <a:schemeClr val="dk1"/>
                </a:solidFill>
                <a:latin typeface="Arial"/>
                <a:ea typeface="Arial"/>
                <a:cs typeface="Arial"/>
                <a:sym typeface="Arial"/>
              </a:rPr>
              <a:t>for training, validation, and testing. Key preprocessing includes slice extraction, resizing, normalization, and</a:t>
            </a:r>
            <a:r>
              <a:rPr lang="en-IN" sz="2400">
                <a:latin typeface="Arial"/>
                <a:ea typeface="Arial"/>
                <a:cs typeface="Arial"/>
                <a:sym typeface="Arial"/>
              </a:rPr>
              <a:t> </a:t>
            </a:r>
            <a:r>
              <a:rPr b="0" i="0" lang="en-IN" sz="2400" u="none" cap="none" strike="noStrike">
                <a:solidFill>
                  <a:schemeClr val="dk1"/>
                </a:solidFill>
                <a:latin typeface="Arial"/>
                <a:ea typeface="Arial"/>
                <a:cs typeface="Arial"/>
                <a:sym typeface="Arial"/>
              </a:rPr>
              <a:t>MRI-appropriate augmentation to enhance model robustness. All six models are trained using the Adam optimizer</a:t>
            </a:r>
            <a:r>
              <a:rPr lang="en-IN" sz="2400">
                <a:latin typeface="Arial"/>
                <a:ea typeface="Arial"/>
                <a:cs typeface="Arial"/>
                <a:sym typeface="Arial"/>
              </a:rPr>
              <a:t> </a:t>
            </a:r>
            <a:r>
              <a:rPr b="0" i="0" lang="en-IN" sz="2400" u="none" cap="none" strike="noStrike">
                <a:solidFill>
                  <a:schemeClr val="dk1"/>
                </a:solidFill>
                <a:latin typeface="Arial"/>
                <a:ea typeface="Arial"/>
                <a:cs typeface="Arial"/>
                <a:sym typeface="Arial"/>
              </a:rPr>
              <a:t>and Cross-Entropy loss with early stopping and checkpointing to control overfitting. Performance is evaluated using</a:t>
            </a:r>
            <a:r>
              <a:rPr lang="en-IN" sz="2400">
                <a:latin typeface="Arial"/>
                <a:ea typeface="Arial"/>
                <a:cs typeface="Arial"/>
                <a:sym typeface="Arial"/>
              </a:rPr>
              <a:t> </a:t>
            </a:r>
            <a:r>
              <a:rPr b="0" i="0" lang="en-IN" sz="2400" u="none" cap="none" strike="noStrike">
                <a:solidFill>
                  <a:schemeClr val="dk1"/>
                </a:solidFill>
                <a:latin typeface="Arial"/>
                <a:ea typeface="Arial"/>
                <a:cs typeface="Arial"/>
                <a:sym typeface="Arial"/>
              </a:rPr>
              <a:t>accuracy, precision, recall, macro-F1, and weighted metrics to ensure fair assessment across classes.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idx="2" type="body"/>
          </p:nvPr>
        </p:nvSpPr>
        <p:spPr>
          <a:xfrm>
            <a:off x="1016953" y="508953"/>
            <a:ext cx="7669847" cy="671512"/>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rgbClr val="002060"/>
              </a:buClr>
              <a:buSzPts val="4000"/>
              <a:buNone/>
            </a:pPr>
            <a:r>
              <a:rPr b="1" lang="en-IN" sz="4000">
                <a:solidFill>
                  <a:srgbClr val="002060"/>
                </a:solidFill>
              </a:rPr>
              <a:t>Methodology &amp; Implementation</a:t>
            </a:r>
            <a:br>
              <a:rPr b="1" lang="en-IN" sz="4000">
                <a:solidFill>
                  <a:srgbClr val="002060"/>
                </a:solidFill>
              </a:rPr>
            </a:br>
            <a:endParaRPr b="1" sz="4000">
              <a:solidFill>
                <a:srgbClr val="002060"/>
              </a:solidFill>
            </a:endParaRPr>
          </a:p>
        </p:txBody>
      </p:sp>
      <p:pic>
        <p:nvPicPr>
          <p:cNvPr id="170" name="Google Shape;170;p27"/>
          <p:cNvPicPr preferRelativeResize="0"/>
          <p:nvPr>
            <p:ph idx="1" type="body"/>
          </p:nvPr>
        </p:nvPicPr>
        <p:blipFill rotWithShape="1">
          <a:blip r:embed="rId3">
            <a:alphaModFix/>
          </a:blip>
          <a:srcRect b="0" l="0" r="0" t="0"/>
          <a:stretch/>
        </p:blipFill>
        <p:spPr>
          <a:xfrm>
            <a:off x="1353700" y="1966525"/>
            <a:ext cx="9484500" cy="449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idx="1" type="body"/>
          </p:nvPr>
        </p:nvSpPr>
        <p:spPr>
          <a:xfrm>
            <a:off x="232625" y="1953675"/>
            <a:ext cx="11338500" cy="4165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The experimental results show that the custom CNN, VGG16, and DenseNet201 achieve the highest accuracy and macro-F1 scores (around 95–98%), demonstrating strong capability in distinguishing all four AD stages. ResNet50 performs moderately well, whereas EfficientNet-B1 and InceptionV3 exhibit comparatively lower and unstable performance under the present setup. These outcomes indicate that carefully optimized 2D CNN architectures are highly effective for multi-stage AD classification and provide a consistent, reliable comparison across different deep-learning families</a:t>
            </a:r>
            <a:endParaRPr/>
          </a:p>
        </p:txBody>
      </p:sp>
      <p:sp>
        <p:nvSpPr>
          <p:cNvPr id="176" name="Google Shape;176;p28"/>
          <p:cNvSpPr txBox="1"/>
          <p:nvPr>
            <p:ph idx="2" type="body"/>
          </p:nvPr>
        </p:nvSpPr>
        <p:spPr>
          <a:xfrm>
            <a:off x="1077913" y="559753"/>
            <a:ext cx="5659437" cy="67151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Clr>
                <a:srgbClr val="002060"/>
              </a:buClr>
              <a:buSzPts val="4000"/>
              <a:buNone/>
            </a:pPr>
            <a:r>
              <a:rPr b="1" lang="en-IN" sz="4000">
                <a:solidFill>
                  <a:srgbClr val="002060"/>
                </a:solidFill>
              </a:rPr>
              <a:t>Results &amp; Discussions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idx="1" type="body"/>
          </p:nvPr>
        </p:nvSpPr>
        <p:spPr>
          <a:xfrm>
            <a:off x="132615" y="1598330"/>
            <a:ext cx="11338560" cy="459361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The proposed unified pipeline successfully demonstrates accurate four-stage Alzheimer’s disease detection using structural MRI, with custom CNN, VGG16, and DenseNet201 emerging as the most efficient and dependable models. The study confirms that deeper or more complex architectures do not necessarily guarantee better performance in this context, while well-designed 2D CNNs can effectively support stage-wise diagnosis. Future extensions include exploring 3D MRI, multimodal imaging, and external validation to enhance real-world clinical reliability.</a:t>
            </a:r>
            <a:endParaRPr/>
          </a:p>
        </p:txBody>
      </p:sp>
      <p:sp>
        <p:nvSpPr>
          <p:cNvPr id="182" name="Google Shape;182;p29"/>
          <p:cNvSpPr txBox="1"/>
          <p:nvPr>
            <p:ph idx="2" type="body"/>
          </p:nvPr>
        </p:nvSpPr>
        <p:spPr>
          <a:xfrm>
            <a:off x="1077913" y="539433"/>
            <a:ext cx="5659437" cy="671512"/>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0"/>
              </a:spcBef>
              <a:spcAft>
                <a:spcPts val="0"/>
              </a:spcAft>
              <a:buClr>
                <a:srgbClr val="002060"/>
              </a:buClr>
              <a:buSzPts val="4000"/>
              <a:buNone/>
            </a:pPr>
            <a:r>
              <a:rPr b="1" lang="en-IN" sz="4000">
                <a:solidFill>
                  <a:srgbClr val="002060"/>
                </a:solidFill>
              </a:rPr>
              <a:t>Conclusion</a:t>
            </a:r>
            <a:br>
              <a:rPr b="1" lang="en-IN" sz="4000">
                <a:solidFill>
                  <a:srgbClr val="002060"/>
                </a:solidFill>
              </a:rPr>
            </a:br>
            <a:endParaRPr b="1" sz="4000">
              <a:solidFill>
                <a:srgbClr val="00206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idx="1" type="body"/>
          </p:nvPr>
        </p:nvSpPr>
        <p:spPr>
          <a:xfrm>
            <a:off x="232632" y="1525813"/>
            <a:ext cx="11338500" cy="4593600"/>
          </a:xfrm>
          <a:prstGeom prst="rect">
            <a:avLst/>
          </a:prstGeom>
          <a:noFill/>
          <a:ln>
            <a:noFill/>
          </a:ln>
        </p:spPr>
        <p:txBody>
          <a:bodyPr anchorCtr="0" anchor="t" bIns="45700" lIns="91425" spcFirstLastPara="1" rIns="91425" wrap="square" tIns="45700">
            <a:noAutofit/>
          </a:bodyPr>
          <a:lstStyle/>
          <a:p>
            <a:pPr indent="-336550" lvl="0" marL="457200" rtl="0" algn="just">
              <a:lnSpc>
                <a:spcPct val="100000"/>
              </a:lnSpc>
              <a:spcBef>
                <a:spcPts val="1200"/>
              </a:spcBef>
              <a:spcAft>
                <a:spcPts val="0"/>
              </a:spcAft>
              <a:buSzPts val="1700"/>
              <a:buFont typeface="Times New Roman"/>
              <a:buAutoNum type="arabicPeriod"/>
            </a:pPr>
            <a:r>
              <a:rPr lang="en-IN" sz="1700">
                <a:latin typeface="Times New Roman"/>
                <a:ea typeface="Times New Roman"/>
                <a:cs typeface="Times New Roman"/>
                <a:sym typeface="Times New Roman"/>
              </a:rPr>
              <a:t>Chen, Y.Automated Alzheimer’s disease classification using deep learning. ScienceDirect(2024).Available at:https://www.sciencedirect.com/science/article/pii/S1687850723002601</a:t>
            </a:r>
            <a:endParaRPr sz="1700">
              <a:latin typeface="Times New Roman"/>
              <a:ea typeface="Times New Roman"/>
              <a:cs typeface="Times New Roman"/>
              <a:sym typeface="Times New Roman"/>
            </a:endParaRPr>
          </a:p>
          <a:p>
            <a:pPr indent="-336550" lvl="0" marL="457200" rtl="0" algn="just">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Vinukonda, E.R.: An integrated deep learning model for early and multi-class Alzheimer’s disease diagnosis. Nature (2025). Available at: https://www.nature.com/articles/s41598-025-01845-ynature​</a:t>
            </a:r>
            <a:endParaRPr sz="1700">
              <a:latin typeface="Times New Roman"/>
              <a:ea typeface="Times New Roman"/>
              <a:cs typeface="Times New Roman"/>
              <a:sym typeface="Times New Roman"/>
            </a:endParaRPr>
          </a:p>
          <a:p>
            <a:pPr indent="-336550" lvl="0" marL="457200" rtl="0" algn="l">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Arya, A.D.A systematic review on machine learning and deep learning approaches for Alzheimer’s disease diagnosis using MRI and PET. Springer (2023).Availableat:https://link.springer.com/article/10.1186/s40708-023-00195-7​</a:t>
            </a:r>
            <a:endParaRPr sz="1700">
              <a:latin typeface="Times New Roman"/>
              <a:ea typeface="Times New Roman"/>
              <a:cs typeface="Times New Roman"/>
              <a:sym typeface="Times New Roman"/>
            </a:endParaRPr>
          </a:p>
          <a:p>
            <a:pPr indent="-336550" lvl="0" marL="457200" rtl="0" algn="just">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Shaji, A., Helaly, H: Novel deep learning for multi-class classification of Alzheimer’s dementia stages. Frontiers in Bioinformatics (2025). Available at:https://www.frontiersin.org/journals/bioinformatics/articles/10.3389/fbinf.2025.1567219</a:t>
            </a:r>
            <a:endParaRPr sz="1700">
              <a:latin typeface="Times New Roman"/>
              <a:ea typeface="Times New Roman"/>
              <a:cs typeface="Times New Roman"/>
              <a:sym typeface="Times New Roman"/>
            </a:endParaRPr>
          </a:p>
          <a:p>
            <a:pPr indent="-336550" lvl="0" marL="457200" rtl="0" algn="l">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Sorour, S.E.,: Classification of Alzheimer’s disease using MRI data based on deep learning. ScienceDirect (2024). Available at: https://www.sciencedirect.com/science/article/pii/S1319157824000296</a:t>
            </a:r>
            <a:endParaRPr sz="1700">
              <a:latin typeface="Times New Roman"/>
              <a:ea typeface="Times New Roman"/>
              <a:cs typeface="Times New Roman"/>
              <a:sym typeface="Times New Roman"/>
            </a:endParaRPr>
          </a:p>
          <a:p>
            <a:pPr indent="-336550" lvl="0" marL="457200" rtl="0" algn="l">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Fundación Dialneti : Advancements in Alzheimer’s disease classification: Integrating machine learning, neuroimaging, and biomarkers. Dialnet (2024). Available at: https://dialnet.unirioja.es/servlet/articulo?codigo=9968874</a:t>
            </a:r>
            <a:endParaRPr sz="1700">
              <a:latin typeface="Times New Roman"/>
              <a:ea typeface="Times New Roman"/>
              <a:cs typeface="Times New Roman"/>
              <a:sym typeface="Times New Roman"/>
            </a:endParaRPr>
          </a:p>
          <a:p>
            <a:pPr indent="-336550" lvl="0" marL="457200" rtl="0" algn="l">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Turrisi, R., Verri, A., and Barla, A.: Deep learning-based Alzheimer’s disease detection: reproducibility and the effect of modeling choices. Frontiers in Computational Neuroscience (2024). Available at: https://www.frontiersin.org/journals/computational-neuroscience/articles/10.3389/fncom.2024.1360095/full</a:t>
            </a:r>
            <a:endParaRPr sz="3500"/>
          </a:p>
        </p:txBody>
      </p:sp>
      <p:sp>
        <p:nvSpPr>
          <p:cNvPr id="188" name="Google Shape;188;p30"/>
          <p:cNvSpPr txBox="1"/>
          <p:nvPr>
            <p:ph idx="2" type="body"/>
          </p:nvPr>
        </p:nvSpPr>
        <p:spPr>
          <a:xfrm>
            <a:off x="1077913" y="493713"/>
            <a:ext cx="5659437" cy="671512"/>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002060"/>
              </a:buClr>
              <a:buSzPts val="4000"/>
              <a:buNone/>
            </a:pPr>
            <a:r>
              <a:rPr b="1" lang="en-IN" sz="4000">
                <a:solidFill>
                  <a:srgbClr val="002060"/>
                </a:solidFill>
              </a:rPr>
              <a:t>References</a:t>
            </a:r>
            <a:br>
              <a:rPr b="1" lang="en-IN" sz="4000">
                <a:solidFill>
                  <a:srgbClr val="002060"/>
                </a:solidFill>
              </a:rPr>
            </a:br>
            <a:endParaRPr b="1" sz="4000">
              <a:solidFill>
                <a:srgbClr val="00206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idx="1" type="body"/>
          </p:nvPr>
        </p:nvSpPr>
        <p:spPr>
          <a:xfrm>
            <a:off x="232632" y="1525813"/>
            <a:ext cx="11338500" cy="4593600"/>
          </a:xfrm>
          <a:prstGeom prst="rect">
            <a:avLst/>
          </a:prstGeom>
          <a:noFill/>
          <a:ln>
            <a:noFill/>
          </a:ln>
        </p:spPr>
        <p:txBody>
          <a:bodyPr anchorCtr="0" anchor="t" bIns="45700" lIns="91425" spcFirstLastPara="1" rIns="91425" wrap="square" tIns="45700">
            <a:noAutofit/>
          </a:bodyPr>
          <a:lstStyle/>
          <a:p>
            <a:pPr indent="-336550" lvl="0" marL="457200" rtl="0" algn="l">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Subhrangshu Bit, Pritam Dey, Arnab Maji: MRI-based mild cognitive disease classification (2024). Available at: https://journals.sagepub.com/doi/abs/10.1177/25424823241290694</a:t>
            </a:r>
            <a:endParaRPr sz="1700">
              <a:latin typeface="Times New Roman"/>
              <a:ea typeface="Times New Roman"/>
              <a:cs typeface="Times New Roman"/>
              <a:sym typeface="Times New Roman"/>
            </a:endParaRPr>
          </a:p>
          <a:p>
            <a:pPr indent="-336550" lvl="0" marL="457200" rtl="0" algn="just">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El-Assy, A.M..: A novel CNN architecture for accurate early detection and classification of Alzheimer’s disease. Nature (2024). Available at: https://www.nature.com/articles/s41598-024-53733-6</a:t>
            </a:r>
            <a:endParaRPr sz="1700">
              <a:latin typeface="Times New Roman"/>
              <a:ea typeface="Times New Roman"/>
              <a:cs typeface="Times New Roman"/>
              <a:sym typeface="Times New Roman"/>
            </a:endParaRPr>
          </a:p>
          <a:p>
            <a:pPr indent="-336550" lvl="0" marL="457200" rtl="0" algn="just">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Rao, B.S., Aparna, M.: Alzheimer’s disease through analysis of MRI images using deep learning techniques. IEEE (2023). Available at: https://ieeexplore.ieee.org/abstract/document/10182253​</a:t>
            </a:r>
            <a:endParaRPr sz="1700">
              <a:latin typeface="Times New Roman"/>
              <a:ea typeface="Times New Roman"/>
              <a:cs typeface="Times New Roman"/>
              <a:sym typeface="Times New Roman"/>
            </a:endParaRPr>
          </a:p>
          <a:p>
            <a:pPr indent="-336550" lvl="0" marL="457200" rtl="0" algn="l">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Odusami, M. Alzheimer’s disease recognition from MRI and PET imaging data. Heliyon (2024). Available at:</a:t>
            </a:r>
            <a:r>
              <a:rPr lang="en-IN" sz="1700">
                <a:uFill>
                  <a:noFill/>
                </a:uFill>
                <a:latin typeface="Times New Roman"/>
                <a:ea typeface="Times New Roman"/>
                <a:cs typeface="Times New Roman"/>
                <a:sym typeface="Times New Roman"/>
                <a:hlinkClick r:id="rId3"/>
              </a:rPr>
              <a:t> </a:t>
            </a:r>
            <a:r>
              <a:rPr lang="en-IN" sz="1700">
                <a:latin typeface="Times New Roman"/>
                <a:ea typeface="Times New Roman"/>
                <a:cs typeface="Times New Roman"/>
                <a:sym typeface="Times New Roman"/>
              </a:rPr>
              <a:t>https://www.cell.com/heliyon/fulltext/S2405-8440(24)10433-1</a:t>
            </a:r>
            <a:endParaRPr sz="1700">
              <a:latin typeface="Times New Roman"/>
              <a:ea typeface="Times New Roman"/>
              <a:cs typeface="Times New Roman"/>
              <a:sym typeface="Times New Roman"/>
            </a:endParaRPr>
          </a:p>
          <a:p>
            <a:pPr indent="-336550" lvl="0" marL="457200" rtl="0" algn="l">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Raza, H.A. Alzheimer’s classification: machine learning and deep learning hybrid approach using multi-view MRI. Scientific Reports (2024). Available at:https://www.nature.com/articles/s41598-024-81563-z</a:t>
            </a:r>
            <a:endParaRPr sz="1700">
              <a:latin typeface="Times New Roman"/>
              <a:ea typeface="Times New Roman"/>
              <a:cs typeface="Times New Roman"/>
              <a:sym typeface="Times New Roman"/>
            </a:endParaRPr>
          </a:p>
          <a:p>
            <a:pPr indent="-336550" lvl="0" marL="457200" rtl="0" algn="l">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Anuradha Vashishtha., Hybrid model: deep learning method for early detection of Alzheimer’s disease from MRI images. Biomedical and Pharmacology Journal (2023). Available at: https://pdfs.semanticscholar.org/7d26/3c8383eb284f54971d70064ad0ccc3cf908b.pdf</a:t>
            </a:r>
            <a:endParaRPr sz="1700">
              <a:latin typeface="Times New Roman"/>
              <a:ea typeface="Times New Roman"/>
              <a:cs typeface="Times New Roman"/>
              <a:sym typeface="Times New Roman"/>
            </a:endParaRPr>
          </a:p>
          <a:p>
            <a:pPr indent="-336550" lvl="0" marL="457200" rtl="0" algn="just">
              <a:lnSpc>
                <a:spcPct val="100000"/>
              </a:lnSpc>
              <a:spcBef>
                <a:spcPts val="0"/>
              </a:spcBef>
              <a:spcAft>
                <a:spcPts val="0"/>
              </a:spcAft>
              <a:buSzPts val="1700"/>
              <a:buFont typeface="Times New Roman"/>
              <a:buAutoNum type="arabicPeriod"/>
            </a:pPr>
            <a:r>
              <a:rPr lang="en-IN" sz="1700">
                <a:latin typeface="Times New Roman"/>
                <a:ea typeface="Times New Roman"/>
                <a:cs typeface="Times New Roman"/>
                <a:sym typeface="Times New Roman"/>
              </a:rPr>
              <a:t>Hadeel Alharbi:Spectral graph convolutional neural network for Alzheimer’s disease classification. Frontiers in Neuroinformatics (2024). Available at: https://www.frontiersin.org/journals/neuroinformatics/articles/10.3389/fninf.2024.1495571</a:t>
            </a:r>
            <a:endParaRPr sz="1700">
              <a:latin typeface="Times New Roman"/>
              <a:ea typeface="Times New Roman"/>
              <a:cs typeface="Times New Roman"/>
              <a:sym typeface="Times New Roman"/>
            </a:endParaRPr>
          </a:p>
          <a:p>
            <a:pPr indent="-336550" lvl="0" marL="457200" rtl="0" algn="just">
              <a:lnSpc>
                <a:spcPct val="100000"/>
              </a:lnSpc>
              <a:spcBef>
                <a:spcPts val="0"/>
              </a:spcBef>
              <a:spcAft>
                <a:spcPts val="1200"/>
              </a:spcAft>
              <a:buSzPts val="1700"/>
              <a:buFont typeface="Times New Roman"/>
              <a:buAutoNum type="arabicPeriod"/>
            </a:pPr>
            <a:r>
              <a:rPr lang="en-IN" sz="1700">
                <a:latin typeface="Times New Roman"/>
                <a:ea typeface="Times New Roman"/>
                <a:cs typeface="Times New Roman"/>
                <a:sym typeface="Times New Roman"/>
              </a:rPr>
              <a:t>Baili, J., Alqahtani:Enhancing multi-class neurodegenerative disease classification with deep learning. Frontiers in Medicine(2025).Available: https://www.frontiersin.org/journals/medicine/articles/10.3389/fmed.2025.1562629/full</a:t>
            </a:r>
            <a:endParaRPr sz="1700">
              <a:latin typeface="Times New Roman"/>
              <a:ea typeface="Times New Roman"/>
              <a:cs typeface="Times New Roman"/>
              <a:sym typeface="Times New Roman"/>
            </a:endParaRPr>
          </a:p>
        </p:txBody>
      </p:sp>
      <p:sp>
        <p:nvSpPr>
          <p:cNvPr id="194" name="Google Shape;194;p31"/>
          <p:cNvSpPr txBox="1"/>
          <p:nvPr>
            <p:ph idx="2" type="body"/>
          </p:nvPr>
        </p:nvSpPr>
        <p:spPr>
          <a:xfrm>
            <a:off x="1077913" y="493713"/>
            <a:ext cx="5659500" cy="6714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002060"/>
              </a:buClr>
              <a:buSzPts val="4000"/>
              <a:buNone/>
            </a:pPr>
            <a:r>
              <a:rPr b="1" lang="en-IN" sz="4000">
                <a:solidFill>
                  <a:srgbClr val="002060"/>
                </a:solidFill>
              </a:rPr>
              <a:t>References</a:t>
            </a:r>
            <a:br>
              <a:rPr b="1" lang="en-IN" sz="4000">
                <a:solidFill>
                  <a:srgbClr val="002060"/>
                </a:solidFill>
              </a:rPr>
            </a:br>
            <a:endParaRPr b="1" sz="4000">
              <a:solidFill>
                <a:srgbClr val="00206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32"/>
          <p:cNvSpPr txBox="1"/>
          <p:nvPr/>
        </p:nvSpPr>
        <p:spPr>
          <a:xfrm>
            <a:off x="2601021" y="2717322"/>
            <a:ext cx="7678705"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8800">
                <a:solidFill>
                  <a:schemeClr val="accent1"/>
                </a:solidFill>
                <a:latin typeface="Caveat"/>
                <a:ea typeface="Caveat"/>
                <a:cs typeface="Caveat"/>
                <a:sym typeface="Caveat"/>
              </a:rPr>
              <a:t>THANK YOU</a:t>
            </a:r>
            <a:endParaRPr sz="8800">
              <a:solidFill>
                <a:schemeClr val="accent1"/>
              </a:solidFill>
              <a:latin typeface="Caveat"/>
              <a:ea typeface="Caveat"/>
              <a:cs typeface="Caveat"/>
              <a:sym typeface="Cavea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